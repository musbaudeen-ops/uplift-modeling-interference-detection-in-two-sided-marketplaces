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82183-48C6-455B-9D9C-F2851978121C}" type="datetimeFigureOut">
              <a:rPr lang="en-NG" smtClean="0"/>
              <a:t>20/02/2026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458A6-E6DD-456B-88B4-6CCBE2F2B2E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8643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458A6-E6DD-456B-88B4-6CCBE2F2B2E1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9174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548640"/>
            <a:ext cx="2194560" cy="21945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4206240"/>
            <a:ext cx="1645920" cy="1645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2926079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691640"/>
            <a:ext cx="8796528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UPLIFT MODELING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A896"/>
                </a:solidFill>
                <a:latin typeface="Calibri"/>
              </a:rPr>
              <a:t>INTERFERENCE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IN TWO-SIDED MARKETPLACES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4754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Optimising Marketing Spend with Causal 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2286000" cy="109728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937760"/>
            <a:ext cx="64008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49834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8F01"/>
                </a:solidFill>
                <a:latin typeface="Calibri"/>
              </a:rPr>
              <a:t>$140K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Annual Savings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4937760"/>
            <a:ext cx="2286000" cy="109728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54680" y="4937760"/>
            <a:ext cx="64008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9272" y="49834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8F01"/>
                </a:solidFill>
                <a:latin typeface="Calibri"/>
              </a:rPr>
              <a:t>735%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Uplift 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4937760"/>
            <a:ext cx="2286000" cy="109728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06440" y="4937760"/>
            <a:ext cx="64008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71031" y="49834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8F01"/>
                </a:solidFill>
                <a:latin typeface="Calibri"/>
              </a:rPr>
              <a:t>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1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Cost 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Food Delivery
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96"/>
                </a:solidFill>
                <a:latin typeface="Calibri"/>
              </a:rPr>
              <a:t>10,000
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50 Neighborhoods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X-Learner · T-Learner · S-Learner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Executive Summary  |  2026</a:t>
            </a:r>
          </a:p>
        </p:txBody>
      </p:sp>
      <p:pic>
        <p:nvPicPr>
          <p:cNvPr id="30" name="Picture 29" descr="title_network.png">
            <a:extLst>
              <a:ext uri="{FF2B5EF4-FFF2-40B4-BE49-F238E27FC236}">
                <a16:creationId xmlns:a16="http://schemas.microsoft.com/office/drawing/2014/main" id="{D2587540-F934-D1D8-992F-F2BE0BC9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719072"/>
            <a:ext cx="2926080" cy="292608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A6CE9E7-A004-8955-8B44-5E2BE9F4FCC5}"/>
              </a:ext>
            </a:extLst>
          </p:cNvPr>
          <p:cNvSpPr/>
          <p:nvPr/>
        </p:nvSpPr>
        <p:spPr>
          <a:xfrm>
            <a:off x="9284677" y="6365627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A896"/>
                </a:solidFill>
                <a:latin typeface="Calibri"/>
              </a:rPr>
              <a:t>By: Ibrahim Musbaudeen</a:t>
            </a:r>
            <a:endParaRPr lang="en-NG" b="1" dirty="0">
              <a:solidFill>
                <a:srgbClr val="00A89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CHALLENGE &amp; 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Moving beyond 'who will buy' to 'who will buy BECAUSE of the promotion'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90448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394960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❌  THE OLD WAY — BLANKET TARGETING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10512"/>
            <a:ext cx="54864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alibri"/>
              </a:rPr>
              <a:t>$50,000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spent per campaign on all 10,000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15184"/>
            <a:ext cx="54864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alibri"/>
              </a:rPr>
              <a:t>Sure Things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get coupons they didn't need — pure margin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19856"/>
            <a:ext cx="54864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19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alibri"/>
              </a:rPr>
              <a:t>Sleeping Dogs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receive coupons that REDUCE their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24528"/>
            <a:ext cx="54864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alibri"/>
              </a:rPr>
              <a:t>146%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despite massive overspend — highly inefficient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4864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246"/>
                </a:solidFill>
                <a:latin typeface="Calibri"/>
              </a:rPr>
              <a:t>No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on WHICH customers actually respond to promotions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1173044"/>
            <a:ext cx="4251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1143000"/>
            <a:ext cx="5806440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1188720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FFFFFF"/>
                </a:solidFill>
                <a:latin typeface="Calibri"/>
              </a:rPr>
              <a:t>✅  THE NEW WAY — UPLIFT TARGETING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65864" y="1810512"/>
            <a:ext cx="54864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2012" y="18405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6A77D"/>
                </a:solidFill>
                <a:latin typeface="Calibri"/>
              </a:rPr>
              <a:t>$15,000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2012" y="209658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spent — only on the right 3,000 customers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69132" y="2645228"/>
            <a:ext cx="54864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2012" y="26452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A77D"/>
                </a:solidFill>
                <a:latin typeface="Calibri"/>
              </a:rPr>
              <a:t>Persuadables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012" y="29012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identified &amp; targeted: 38.8% uplift effect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9132" y="3449900"/>
            <a:ext cx="54864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2012" y="34499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A77D"/>
                </a:solidFill>
                <a:latin typeface="Calibri"/>
              </a:rPr>
              <a:t>Sleeping Dogs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2012" y="37059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excluded — protecting revenue &amp; brand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69132" y="4254572"/>
            <a:ext cx="54864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2012" y="42545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A77D"/>
                </a:solidFill>
                <a:latin typeface="Calibri"/>
              </a:rPr>
              <a:t>735%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2012" y="45106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5× better than blanket — same revenue, 70% less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69132" y="5059244"/>
            <a:ext cx="54864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2012" y="50592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6A77D"/>
                </a:solidFill>
                <a:latin typeface="Calibri"/>
              </a:rPr>
              <a:t>Causal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2012" y="5299274"/>
            <a:ext cx="53035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X-Learner meta-learner identifies who RESPONDS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Uplift Modeling Project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8C26C268-4018-9B8D-8239-87DA25D1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08484"/>
            <a:ext cx="3291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ROI &amp; PROFIT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Corrected analysis: revenue counted from all customers — only cost differs by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5" y="1115568"/>
            <a:ext cx="2578608" cy="21031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578608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578608" cy="438912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097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BLANKET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7276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2246"/>
                </a:solidFill>
                <a:latin typeface="Calibri"/>
              </a:rPr>
              <a:t>$73K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Net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04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$50K Cost  |  10,000 targeted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5536" y="1115568"/>
            <a:ext cx="2578608" cy="21031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8960" y="1051560"/>
            <a:ext cx="2578608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08960" y="1051560"/>
            <a:ext cx="2578608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1097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57276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18F01"/>
                </a:solidFill>
                <a:latin typeface="Calibri"/>
              </a:rPr>
              <a:t>$104K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Net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04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$15K Cost  |  3,000 targeted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34455" y="1115568"/>
            <a:ext cx="2578608" cy="21031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7879" y="1051560"/>
            <a:ext cx="2578608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97879" y="1051560"/>
            <a:ext cx="2578608" cy="43891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19" y="1097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UPLIFT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19" y="157276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A77D"/>
                </a:solidFill>
                <a:latin typeface="Calibri"/>
              </a:rPr>
              <a:t>$110K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19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Net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19" y="2404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$15K Cost  |  3,000 targeted ✓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91840"/>
            <a:ext cx="5486400" cy="324612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291840"/>
            <a:ext cx="5669280" cy="324612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20040" y="3246120"/>
            <a:ext cx="548640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2735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ROI (%) by Strategy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246120"/>
            <a:ext cx="56692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32735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 Profit ($) by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Uplift Modeling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CUSTOMER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Understanding WHO responds to promotions — and who to avoid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39312" cy="2551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639312" cy="50292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PERSUADABLE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3639312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5.3%  |  531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642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A77D"/>
                </a:solidFill>
                <a:latin typeface="Calibri"/>
              </a:rPr>
              <a:t>+38.8% uplift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Medium recency, engaged but not premium. Coupons CAUSE conversions. Primary target.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10128"/>
            <a:ext cx="3364992" cy="38404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1143000"/>
            <a:ext cx="3639312" cy="2551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3672" y="1143000"/>
            <a:ext cx="3639312" cy="502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0832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SURE 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1645920"/>
            <a:ext cx="3639312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1664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3.5%  |  351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16642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18F01"/>
                </a:solidFill>
                <a:latin typeface="Calibri"/>
              </a:rPr>
              <a:t>+5.7% uplift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2084831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High recency, high engagement. Will buy anyway. Coupon wastes margin — low priority.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3310128"/>
            <a:ext cx="3364992" cy="38404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2" y="333756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⚠ LOW PRIORITY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7304" y="1143000"/>
            <a:ext cx="3639312" cy="2551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47304" y="1143000"/>
            <a:ext cx="3639312" cy="50292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OTHER / LOST CAUSE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1645920"/>
            <a:ext cx="3639312" cy="34747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16642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91.2%  |  9,118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16642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62246"/>
                </a:solidFill>
                <a:latin typeface="Calibri"/>
              </a:rPr>
              <a:t>-0.2% uplift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084831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Majority segment. Negligible or slightly negative response. Coupon spend not justified.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4464" y="3310128"/>
            <a:ext cx="3364992" cy="384048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333756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✗ EXCLUDE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0"/>
            <a:ext cx="4114800" cy="246888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05656"/>
            <a:ext cx="7040880" cy="256946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320040" y="3794760"/>
            <a:ext cx="4114800" cy="2743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8130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Segment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794760"/>
            <a:ext cx="70408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3813048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True vs. Predicted Uplift by Segment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Uplift Modeling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Three meta-learners evaluated — T-Learner achieves best Qini; X-Learner used for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41732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1704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143000"/>
            <a:ext cx="114300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56231" y="11704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143000"/>
            <a:ext cx="114300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1704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143000"/>
            <a:ext cx="132588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1170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Correlation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143000"/>
            <a:ext cx="132588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05272" y="1170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Qini 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27048"/>
            <a:ext cx="141732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59" y="1581912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T-Learner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1527048"/>
            <a:ext cx="114300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1581912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0.1427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1527048"/>
            <a:ext cx="114300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1581912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0.1130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1527048"/>
            <a:ext cx="132588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158191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0.391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527048"/>
            <a:ext cx="1325880" cy="402336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158191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A77D"/>
                </a:solidFill>
                <a:latin typeface="Calibri"/>
              </a:rPr>
              <a:t>11.06 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965960"/>
            <a:ext cx="1417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59" y="2020824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S-Learner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1965960"/>
            <a:ext cx="1143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0" y="2020824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0.1267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1965960"/>
            <a:ext cx="1143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0" y="2020824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0.1004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1965960"/>
            <a:ext cx="1325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0" y="2020824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0.549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1965960"/>
            <a:ext cx="1325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0" y="2020824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2.44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404872"/>
            <a:ext cx="141732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59" y="245973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X-Learner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83080" y="2404872"/>
            <a:ext cx="114300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0" y="2459736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0.1242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2404872"/>
            <a:ext cx="114300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0" y="2459736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0.1003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2404872"/>
            <a:ext cx="132588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06240" y="2459736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0.483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04872"/>
            <a:ext cx="1325880" cy="40233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77840" y="2459736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4.87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871216"/>
            <a:ext cx="6629400" cy="384048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28986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A77D"/>
                </a:solidFill>
                <a:latin typeface="Calibri"/>
              </a:rPr>
              <a:t>★  X-Learner selected for deployment — best RMSE/MAE; T-Learner leads on Qini ranking metric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611880"/>
            <a:ext cx="4480560" cy="3063240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320040" y="3337560"/>
            <a:ext cx="685800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35584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Cumulative Uplift Curve — Smart vs Random Targeting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337560"/>
            <a:ext cx="448056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43800" y="335584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 Comparison: Qini &amp; Correlation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Uplift Modeling Project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7DA5C3D-BA98-0D99-F8B1-FF0FC2E7F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9" y="3657600"/>
            <a:ext cx="6839712" cy="2926086"/>
          </a:xfrm>
          <a:prstGeom prst="rect">
            <a:avLst/>
          </a:prstGeom>
        </p:spPr>
      </p:pic>
      <p:pic>
        <p:nvPicPr>
          <p:cNvPr id="48" name="Picture 47" descr="model_brain.png">
            <a:extLst>
              <a:ext uri="{FF2B5EF4-FFF2-40B4-BE49-F238E27FC236}">
                <a16:creationId xmlns:a16="http://schemas.microsoft.com/office/drawing/2014/main" id="{DC251A8E-B05B-B0CD-C9FF-6328D460D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8079" y="1051560"/>
            <a:ext cx="438912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IMPACT &amp; FINANCIAL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Quarterly campaign analysis — uplift targeting vs. blanket coupon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212848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2296" cy="169164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6A77D"/>
                </a:solidFill>
                <a:latin typeface="Calibri"/>
              </a:rPr>
              <a:t>$35,000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105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Cost Saved
Per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1097280"/>
            <a:ext cx="2212848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33472" y="1097280"/>
            <a:ext cx="82296" cy="1691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8090"/>
                </a:solidFill>
                <a:latin typeface="Calibri"/>
              </a:rPr>
              <a:t>$110,326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8105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Profit
Uplift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2624" y="1097280"/>
            <a:ext cx="2212848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92624" y="1097280"/>
            <a:ext cx="82296" cy="16916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8F01"/>
                </a:solidFill>
                <a:latin typeface="Calibri"/>
              </a:rPr>
              <a:t>735%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8105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ROI
Uplift Strategy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1097280"/>
            <a:ext cx="2212848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51776" y="1097280"/>
            <a:ext cx="82296" cy="1691640"/>
          </a:xfrm>
          <a:prstGeom prst="rect">
            <a:avLst/>
          </a:prstGeom>
          <a:solidFill>
            <a:srgbClr val="D6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62246"/>
                </a:solidFill>
                <a:latin typeface="Calibri"/>
              </a:rPr>
              <a:t>$140,000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18105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Annual
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0928" y="1097280"/>
            <a:ext cx="2212848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10928" y="1097280"/>
            <a:ext cx="82296" cy="1691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12096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5.02×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181051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ROI
Multiplier vs Blanket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44368"/>
            <a:ext cx="502920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96265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Campaign Cost Comparison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18688"/>
            <a:ext cx="5029200" cy="32190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623560" y="2944367"/>
            <a:ext cx="6263640" cy="3493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23560" y="2944368"/>
            <a:ext cx="6263640" cy="38404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29718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RECOMMENDATIONS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3456432"/>
            <a:ext cx="6035040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52160" y="3483863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IMMEDIATE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803903"/>
            <a:ext cx="54864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374903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Deploy uplift model to target top 30% by predicted CATE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4169663"/>
            <a:ext cx="54864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41148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Implement real-time scoring API for marketing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4535424"/>
            <a:ext cx="54864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44805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A/B test vs current approach — est. $35K/quarter savings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4937760"/>
            <a:ext cx="6035040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0" y="4965192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FUTURE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5285232"/>
            <a:ext cx="54864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9320" y="52303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Extend model to free delivery &amp; loyalty point incentives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5650992"/>
            <a:ext cx="54864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9320" y="559612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Build dynamic coupon value optimisation engine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6016752"/>
            <a:ext cx="54864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89320" y="596188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Create lookalike models for customer acquisition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Uplift Modeling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2560320"/>
            <a:ext cx="8796528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From Prediction to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96"/>
                </a:solidFill>
                <a:latin typeface="Calibri"/>
              </a:rPr>
              <a:t>That's what separates good data science from great.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50292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788920"/>
            <a:ext cx="3429000" cy="68580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Uplift modeling identifies WHO responds to promotions — not just who buys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788920"/>
            <a:ext cx="50292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788920"/>
            <a:ext cx="3429000" cy="68580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70% cost reduction achieved by targeting only 30% of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50292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886200"/>
            <a:ext cx="3429000" cy="68580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Sleeping Dogs &amp; Sure Things excluded — protecting margin &amp; brand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886200"/>
            <a:ext cx="50292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88620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3886200"/>
            <a:ext cx="3429000" cy="68580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9512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X-Learner meta-learner deployed for counterfactual CATE 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8F01"/>
                </a:solidFill>
                <a:latin typeface="Calibri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Uplift Modeling &amp; Interference Detection  |  Executive Summary  |  2026</a:t>
            </a:r>
          </a:p>
        </p:txBody>
      </p:sp>
      <p:pic>
        <p:nvPicPr>
          <p:cNvPr id="27" name="Picture 26" descr="closing_lightbulb.png">
            <a:extLst>
              <a:ext uri="{FF2B5EF4-FFF2-40B4-BE49-F238E27FC236}">
                <a16:creationId xmlns:a16="http://schemas.microsoft.com/office/drawing/2014/main" id="{51F53001-235B-35A7-A974-E401466D4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371600"/>
            <a:ext cx="2926080" cy="3824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622</Words>
  <Application>Microsoft Office PowerPoint</Application>
  <PresentationFormat>Custom</PresentationFormat>
  <Paragraphs>142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Musbaudeen Ibrahim</cp:lastModifiedBy>
  <cp:revision>5</cp:revision>
  <dcterms:created xsi:type="dcterms:W3CDTF">2013-01-27T09:14:16Z</dcterms:created>
  <dcterms:modified xsi:type="dcterms:W3CDTF">2026-02-20T08:48:24Z</dcterms:modified>
  <cp:category/>
</cp:coreProperties>
</file>